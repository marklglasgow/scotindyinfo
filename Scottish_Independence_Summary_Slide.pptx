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SCOTTISH INDEPENDENCE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" y="35661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 — Overall 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35440" y="2194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Analysis  |  April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804672"/>
            <a:ext cx="11759184" cy="658368"/>
          </a:xfrm>
          <a:prstGeom prst="rect">
            <a:avLst/>
          </a:prstGeom>
          <a:solidFill>
            <a:srgbClr val="0F2944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22960"/>
            <a:ext cx="11466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High-variance proposition. Near-term costs are certain and front-loaded; long-term gains are real but contingent. Outcome depends more on </a:t>
            </a:r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quality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constitutional status alone.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" y="1609344"/>
            <a:ext cx="3730752" cy="3520440"/>
          </a:xfrm>
          <a:prstGeom prst="rect">
            <a:avLst/>
          </a:prstGeom>
          <a:solidFill>
            <a:srgbClr val="162233"/>
          </a:solidFill>
          <a:ln w="12700">
            <a:solidFill>
              <a:srgbClr val="3A15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609344"/>
            <a:ext cx="3730752" cy="36576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70078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KEY RISKS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" y="2112264"/>
            <a:ext cx="3511296" cy="420624"/>
          </a:xfrm>
          <a:prstGeom prst="rect">
            <a:avLst/>
          </a:prstGeom>
          <a:solidFill>
            <a:srgbClr val="1A0D0D"/>
          </a:solidFill>
          <a:ln w="6350">
            <a:solidFill>
              <a:srgbClr val="3D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" y="2112264"/>
            <a:ext cx="45720" cy="42062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1305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Deficit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" y="2286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~£8–17bn structural gap from day one — largest single challenge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0896" y="2606040"/>
            <a:ext cx="3511296" cy="420624"/>
          </a:xfrm>
          <a:prstGeom prst="rect">
            <a:avLst/>
          </a:prstGeom>
          <a:solidFill>
            <a:srgbClr val="1A0D0D"/>
          </a:solidFill>
          <a:ln w="6350">
            <a:solidFill>
              <a:srgbClr val="3D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" y="2606040"/>
            <a:ext cx="45720" cy="42062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62432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rUK Trade Friction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" y="27797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exports at risk; border costs hit before EU gains materialise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0896" y="3099816"/>
            <a:ext cx="3511296" cy="420624"/>
          </a:xfrm>
          <a:prstGeom prst="rect">
            <a:avLst/>
          </a:prstGeom>
          <a:solidFill>
            <a:srgbClr val="1A0D0D"/>
          </a:solidFill>
          <a:ln w="6350">
            <a:solidFill>
              <a:srgbClr val="3D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" y="3099816"/>
            <a:ext cx="45720" cy="42062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11810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0624" y="32735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relocation risk; Bank of England backstop lost; Edinburgh diminished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0896" y="3593592"/>
            <a:ext cx="3511296" cy="420624"/>
          </a:xfrm>
          <a:prstGeom prst="rect">
            <a:avLst/>
          </a:prstGeom>
          <a:solidFill>
            <a:srgbClr val="1A0D0D"/>
          </a:solidFill>
          <a:ln w="6350">
            <a:solidFill>
              <a:srgbClr val="3D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" y="3593592"/>
            <a:ext cx="45720" cy="42062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61188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Uncertainty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624" y="37673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optimal solution; sterling, peg, or new currency all carry significant risk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0896" y="4087368"/>
            <a:ext cx="3511296" cy="420624"/>
          </a:xfrm>
          <a:prstGeom prst="rect">
            <a:avLst/>
          </a:prstGeom>
          <a:solidFill>
            <a:srgbClr val="1A0D0D"/>
          </a:solidFill>
          <a:ln w="6350">
            <a:solidFill>
              <a:srgbClr val="3D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" y="4087368"/>
            <a:ext cx="45720" cy="42062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410565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Impacts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0624" y="42611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repricing, pension uncertainty, inflation spike in transition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0896" y="4581144"/>
            <a:ext cx="3511296" cy="420624"/>
          </a:xfrm>
          <a:prstGeom prst="rect">
            <a:avLst/>
          </a:prstGeom>
          <a:solidFill>
            <a:srgbClr val="1A0D0D"/>
          </a:solidFill>
          <a:ln w="6350">
            <a:solidFill>
              <a:srgbClr val="3D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" y="4581144"/>
            <a:ext cx="45720" cy="42062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59943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Costs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£4.5–9.7bn one-off institutional setup; front-loaded in years 1–5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078224" y="1609344"/>
            <a:ext cx="3730752" cy="352044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78224" y="1609344"/>
            <a:ext cx="3730752" cy="36576"/>
          </a:xfrm>
          <a:prstGeom prst="rect">
            <a:avLst/>
          </a:prstGeom>
          <a:solidFill>
            <a:srgbClr val="E09B3D"/>
          </a:solidFill>
          <a:ln w="12700">
            <a:solidFill>
              <a:srgbClr val="E09B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15384" y="170078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9B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 BASE CASE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87952" y="2112264"/>
            <a:ext cx="3511296" cy="420624"/>
          </a:xfrm>
          <a:prstGeom prst="rect">
            <a:avLst/>
          </a:prstGeom>
          <a:solidFill>
            <a:srgbClr val="111C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87952" y="2112264"/>
            <a:ext cx="45720" cy="420624"/>
          </a:xfrm>
          <a:prstGeom prst="rect">
            <a:avLst/>
          </a:prstGeom>
          <a:solidFill>
            <a:srgbClr val="E09B3D"/>
          </a:solidFill>
          <a:ln w="12700">
            <a:solidFill>
              <a:srgbClr val="E09B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21305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(Years 1–5)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97680" y="2286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−3% to −8% vs baseline; gradual recovery from year 5+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87952" y="2606040"/>
            <a:ext cx="3511296" cy="420624"/>
          </a:xfrm>
          <a:prstGeom prst="rect">
            <a:avLst/>
          </a:prstGeom>
          <a:solidFill>
            <a:srgbClr val="111C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87952" y="2606040"/>
            <a:ext cx="45720" cy="420624"/>
          </a:xfrm>
          <a:prstGeom prst="rect">
            <a:avLst/>
          </a:prstGeom>
          <a:solidFill>
            <a:srgbClr val="E09B3D"/>
          </a:solidFill>
          <a:ln w="12700">
            <a:solidFill>
              <a:srgbClr val="E09B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0" y="262432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(Year 10+)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97680" y="27797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Broadly neutral if EU access secured; negative if not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87952" y="3099816"/>
            <a:ext cx="3511296" cy="420624"/>
          </a:xfrm>
          <a:prstGeom prst="rect">
            <a:avLst/>
          </a:prstGeom>
          <a:solidFill>
            <a:srgbClr val="111C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87952" y="3099816"/>
            <a:ext cx="45720" cy="420624"/>
          </a:xfrm>
          <a:prstGeom prst="rect">
            <a:avLst/>
          </a:prstGeom>
          <a:solidFill>
            <a:srgbClr val="E09B3D"/>
          </a:solidFill>
          <a:ln w="12700">
            <a:solidFill>
              <a:srgbClr val="E09B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7680" y="311810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Path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297680" y="32735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elevated 7–10 years; mixed consolidation (cuts + tax rises)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187952" y="3593592"/>
            <a:ext cx="3511296" cy="420624"/>
          </a:xfrm>
          <a:prstGeom prst="rect">
            <a:avLst/>
          </a:prstGeom>
          <a:solidFill>
            <a:srgbClr val="111C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87952" y="3593592"/>
            <a:ext cx="45720" cy="420624"/>
          </a:xfrm>
          <a:prstGeom prst="rect">
            <a:avLst/>
          </a:prstGeom>
          <a:solidFill>
            <a:srgbClr val="E09B3D"/>
          </a:solidFill>
          <a:ln w="12700">
            <a:solidFill>
              <a:srgbClr val="E09B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0" y="361188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297680" y="37673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Sterlingisation initially; new Scottish £ over 5–7 years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187952" y="4087368"/>
            <a:ext cx="3511296" cy="420624"/>
          </a:xfrm>
          <a:prstGeom prst="rect">
            <a:avLst/>
          </a:prstGeom>
          <a:solidFill>
            <a:srgbClr val="111C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87952" y="4087368"/>
            <a:ext cx="45720" cy="420624"/>
          </a:xfrm>
          <a:prstGeom prst="rect">
            <a:avLst/>
          </a:prstGeom>
          <a:solidFill>
            <a:srgbClr val="E09B3D"/>
          </a:solidFill>
          <a:ln w="12700">
            <a:solidFill>
              <a:srgbClr val="E09B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97680" y="410565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Membership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297680" y="42611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access within 5 yrs; full EU membership 8–15 years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187952" y="4581144"/>
            <a:ext cx="3511296" cy="420624"/>
          </a:xfrm>
          <a:prstGeom prst="rect">
            <a:avLst/>
          </a:prstGeom>
          <a:solidFill>
            <a:srgbClr val="111C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87952" y="4581144"/>
            <a:ext cx="45720" cy="420624"/>
          </a:xfrm>
          <a:prstGeom prst="rect">
            <a:avLst/>
          </a:prstGeom>
          <a:solidFill>
            <a:srgbClr val="E09B3D"/>
          </a:solidFill>
          <a:ln w="12700">
            <a:solidFill>
              <a:srgbClr val="E09B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97680" y="459943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297680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negative short-term; stabilisation by year 5–7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955280" y="1609344"/>
            <a:ext cx="3730752" cy="3520440"/>
          </a:xfrm>
          <a:prstGeom prst="rect">
            <a:avLst/>
          </a:prstGeom>
          <a:solidFill>
            <a:srgbClr val="162233"/>
          </a:solidFill>
          <a:ln w="12700">
            <a:solidFill>
              <a:srgbClr val="153A2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55280" y="1609344"/>
            <a:ext cx="3730752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92440" y="170078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✦  OPPORTUNITIES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065008" y="2112264"/>
            <a:ext cx="3511296" cy="420624"/>
          </a:xfrm>
          <a:prstGeom prst="rect">
            <a:avLst/>
          </a:prstGeom>
          <a:solidFill>
            <a:srgbClr val="0D1F14"/>
          </a:solidFill>
          <a:ln w="6350">
            <a:solidFill>
              <a:srgbClr val="1A3D2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65008" y="2112264"/>
            <a:ext cx="45720" cy="420624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74736" y="21305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Single Market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174736" y="2286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450m consumer access; trade and FDI gains over 10–15 years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065008" y="2606040"/>
            <a:ext cx="3511296" cy="420624"/>
          </a:xfrm>
          <a:prstGeom prst="rect">
            <a:avLst/>
          </a:prstGeom>
          <a:solidFill>
            <a:srgbClr val="0D1F14"/>
          </a:solidFill>
          <a:ln w="6350">
            <a:solidFill>
              <a:srgbClr val="1A3D2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65008" y="2606040"/>
            <a:ext cx="45720" cy="420624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74736" y="262432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174736" y="27797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per-capita resource in Europe; long-run export potential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065008" y="3099816"/>
            <a:ext cx="3511296" cy="420624"/>
          </a:xfrm>
          <a:prstGeom prst="rect">
            <a:avLst/>
          </a:prstGeom>
          <a:solidFill>
            <a:srgbClr val="0D1F14"/>
          </a:solidFill>
          <a:ln w="6350">
            <a:solidFill>
              <a:srgbClr val="1A3D2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65008" y="3099816"/>
            <a:ext cx="45720" cy="420624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174736" y="311810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Autonomy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8174736" y="32735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Immigration, tax, and spend calibrated to Scotland's economy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065008" y="3593592"/>
            <a:ext cx="3511296" cy="420624"/>
          </a:xfrm>
          <a:prstGeom prst="rect">
            <a:avLst/>
          </a:prstGeom>
          <a:solidFill>
            <a:srgbClr val="0D1F14"/>
          </a:solidFill>
          <a:ln w="6350">
            <a:solidFill>
              <a:srgbClr val="1A3D2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65008" y="3593592"/>
            <a:ext cx="45720" cy="420624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74736" y="361188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Savings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174736" y="37673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£0.8–1.8bn/yr vs UK per-capita attribution; nuclear-free option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065008" y="4087368"/>
            <a:ext cx="3511296" cy="420624"/>
          </a:xfrm>
          <a:prstGeom prst="rect">
            <a:avLst/>
          </a:prstGeom>
          <a:solidFill>
            <a:srgbClr val="0D1F14"/>
          </a:solidFill>
          <a:ln w="6350">
            <a:solidFill>
              <a:srgbClr val="1A3D2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65008" y="4087368"/>
            <a:ext cx="45720" cy="420624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174736" y="410565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Control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8174736" y="42611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policy to address demographic and skills gaps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065008" y="4581144"/>
            <a:ext cx="3511296" cy="420624"/>
          </a:xfrm>
          <a:prstGeom prst="rect">
            <a:avLst/>
          </a:prstGeom>
          <a:solidFill>
            <a:srgbClr val="0D1F14"/>
          </a:solidFill>
          <a:ln w="6350">
            <a:solidFill>
              <a:srgbClr val="1A3D2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65008" y="4581144"/>
            <a:ext cx="45720" cy="420624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74736" y="459943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Viability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174736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economies (Ireland, Denmark, Norway) demonstrate it works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201168" y="5257800"/>
            <a:ext cx="11759184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01168" y="5385816"/>
            <a:ext cx="1175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8B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LEVELS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56032" y="5623560"/>
            <a:ext cx="1850136" cy="512064"/>
          </a:xfrm>
          <a:prstGeom prst="rect">
            <a:avLst/>
          </a:prstGeom>
          <a:solidFill>
            <a:srgbClr val="111C28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92608" y="5650992"/>
            <a:ext cx="1776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292608" y="5806440"/>
            <a:ext cx="177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Risk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215896" y="5623560"/>
            <a:ext cx="1850136" cy="512064"/>
          </a:xfrm>
          <a:prstGeom prst="rect">
            <a:avLst/>
          </a:prstGeom>
          <a:solidFill>
            <a:srgbClr val="111C28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52472" y="5650992"/>
            <a:ext cx="1776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2252472" y="5806440"/>
            <a:ext cx="177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rUK Trade Exposure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175760" y="5623560"/>
            <a:ext cx="1850136" cy="512064"/>
          </a:xfrm>
          <a:prstGeom prst="rect">
            <a:avLst/>
          </a:prstGeom>
          <a:solidFill>
            <a:srgbClr val="111C28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212336" y="5650992"/>
            <a:ext cx="1776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4212336" y="5806440"/>
            <a:ext cx="177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Sector Risk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6135624" y="5623560"/>
            <a:ext cx="1850136" cy="512064"/>
          </a:xfrm>
          <a:prstGeom prst="rect">
            <a:avLst/>
          </a:prstGeom>
          <a:solidFill>
            <a:srgbClr val="111C28"/>
          </a:solidFill>
          <a:ln w="12700">
            <a:solidFill>
              <a:srgbClr val="E09B3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172200" y="5650992"/>
            <a:ext cx="1776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0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6172200" y="5806440"/>
            <a:ext cx="177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Membership Timeline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8095488" y="5623560"/>
            <a:ext cx="1850136" cy="512064"/>
          </a:xfrm>
          <a:prstGeom prst="rect">
            <a:avLst/>
          </a:prstGeom>
          <a:solidFill>
            <a:srgbClr val="111C28"/>
          </a:solidFill>
          <a:ln w="12700">
            <a:solidFill>
              <a:srgbClr val="E09B3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132064" y="5650992"/>
            <a:ext cx="1776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0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8132064" y="5806440"/>
            <a:ext cx="177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Outcome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10055352" y="5623560"/>
            <a:ext cx="1850136" cy="512064"/>
          </a:xfrm>
          <a:prstGeom prst="rect">
            <a:avLst/>
          </a:prstGeom>
          <a:solidFill>
            <a:srgbClr val="111C28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091928" y="5650992"/>
            <a:ext cx="1776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CONFIDENCE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10091928" y="5806440"/>
            <a:ext cx="177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Upside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310896" y="520293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COSTS — CERTAIN &amp; FRONT-LOADED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4187952" y="520293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E09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— HIGH UNCERTAINTY THROUGHOUT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8065008" y="520293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CA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UPSIDE — REAL BUT CONTINGENT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Scottish Independence — Economic Impact Summary</dc:title>
  <dc:subject>PptxGenJS Presentation</dc:subject>
  <dc:creator>PptxGenJS</dc:creator>
  <cp:lastModifiedBy>PptxGenJS</cp:lastModifiedBy>
  <cp:revision>1</cp:revision>
  <dcterms:created xsi:type="dcterms:W3CDTF">2026-04-28T15:15:18Z</dcterms:created>
  <dcterms:modified xsi:type="dcterms:W3CDTF">2026-04-28T15:15:18Z</dcterms:modified>
</cp:coreProperties>
</file>